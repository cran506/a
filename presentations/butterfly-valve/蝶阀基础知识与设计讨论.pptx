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本汇报是初步知识梳理，不代表已完成具体型号设计或试验验证。建议汇报约8—10分钟。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介质压力辅助密封描述密封力来源，不等同于依靠介质自行启闭的自动阀门。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各结构的具体定义需结合剖面图与坐标方向理解；不能按偏心数量直接判断所有性能优劣。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三偏心不代表绝对无磨损；金属密封也不能直接推出整体耐高压。承压能力需由结构、材料、标准和试验确定。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本页为力矩组成的概念表达，不代替具体公式。原稿公式需核对原始出处、单位、符号及假设后使用。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未进行外部文献检索。正式提交或用于设计计算前，应补齐可追溯来源。本稿保留学习问题，不虚构研究结果。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5304D"/>
                </a:solidFill>
                <a:latin typeface="Noto Sans CJK SC"/>
              </a:defRPr>
            </a:pPr>
            <a:r>
              <a:t>蝶阀基础知识与设计问题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57A"/>
                </a:solidFill>
                <a:latin typeface="Noto Sans CJK SC"/>
              </a:defRPr>
            </a:pPr>
            <a:r>
              <a:t>蝶阀基础知识与设计问题  /  初步学习与讨论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3657A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315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15304D"/>
                </a:solidFill>
                <a:latin typeface="Noto Sans CJK SC"/>
              </a:defRPr>
            </a:pPr>
            <a:r>
              <a:t>从结构与密封原理</a:t>
            </a:r>
          </a:p>
          <a:p>
            <a:pPr>
              <a:spcAft>
                <a:spcPts val="1200"/>
              </a:spcAft>
              <a:defRPr sz="3600" b="1">
                <a:solidFill>
                  <a:srgbClr val="15304D"/>
                </a:solidFill>
                <a:latin typeface="Noto Sans CJK SC"/>
              </a:defRPr>
            </a:pPr>
            <a:r>
              <a:t>到力矩与设计取舍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77639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导师讨论用 · 初步学习汇报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基于《蝶阀.docx》整理与修订</a:t>
            </a:r>
          </a:p>
        </p:txBody>
      </p:sp>
      <p:sp>
        <p:nvSpPr>
          <p:cNvPr id="8" name="Oval 7"/>
          <p:cNvSpPr/>
          <p:nvPr/>
        </p:nvSpPr>
        <p:spPr>
          <a:xfrm>
            <a:off x="9144000" y="2103120"/>
            <a:ext cx="2011680" cy="2011680"/>
          </a:xfrm>
          <a:prstGeom prst="ellipse">
            <a:avLst/>
          </a:prstGeom>
          <a:solidFill>
            <a:srgbClr val="22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57232" y="1737360"/>
            <a:ext cx="201168" cy="274320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4709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8B89"/>
                </a:solidFill>
                <a:latin typeface="Noto Sans CJK SC"/>
              </a:defRPr>
            </a:pPr>
            <a:r>
              <a:t>结构 → 密封 → 设计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5304D"/>
                </a:solidFill>
                <a:latin typeface="Noto Sans CJK SC"/>
              </a:defRPr>
            </a:pPr>
            <a:r>
              <a:t>01  本次汇报要回答什么？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57A"/>
                </a:solidFill>
                <a:latin typeface="Noto Sans CJK SC"/>
              </a:defRPr>
            </a:pPr>
            <a:r>
              <a:t>以结构变化为主线，把知识点连接到设计问题。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57A"/>
                </a:solidFill>
                <a:latin typeface="Noto Sans CJK SC"/>
              </a:defRPr>
            </a:pPr>
            <a:r>
              <a:t>蝶阀基础知识与设计问题  /  初步学习与讨论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3657A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324612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8" y="214884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103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1  蝶阀如何工作？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16352"/>
            <a:ext cx="26974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基本结构、功能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与主要分类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920240"/>
            <a:ext cx="324612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81728" y="214884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2103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2  不同结构如何密封？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816352"/>
            <a:ext cx="26974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中线与偏心结构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密封面接触与脱离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920240"/>
            <a:ext cx="324612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67928" y="214884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0808" y="2103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3  设计时重点考虑什么？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816352"/>
            <a:ext cx="26974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操作力矩、强度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变形与流动阻力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5304D"/>
                </a:solidFill>
                <a:latin typeface="Noto Sans CJK SC"/>
              </a:defRPr>
            </a:pPr>
            <a:r>
              <a:t>02  基本结构与用途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57A"/>
                </a:solidFill>
                <a:latin typeface="Noto Sans CJK SC"/>
              </a:defRPr>
            </a:pPr>
            <a:r>
              <a:t>蝶板绕阀杆转动，通常以约90°行程完成启闭。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57A"/>
                </a:solidFill>
                <a:latin typeface="Noto Sans CJK SC"/>
              </a:defRPr>
            </a:pPr>
            <a:r>
              <a:t>蝶阀基础知识与设计问题  /  初步学习与讨论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3657A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53035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8" y="201168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65960"/>
            <a:ext cx="4709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结构与动作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79191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主要部件：阀体、蝶板、阀杆、阀座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驱动方式：手动、电动、气动、液动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用途：接通、切断或调节流量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83080"/>
            <a:ext cx="54406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201168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9659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优势与选型边界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79191"/>
            <a:ext cx="4892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结构紧凑、结构长度较短、启闭方便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大口径管路中应用较多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全开仍有流阻；选型需结合介质、温度、压差与泄漏要求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5304D"/>
                </a:solidFill>
                <a:latin typeface="Noto Sans CJK SC"/>
              </a:defRPr>
            </a:pPr>
            <a:r>
              <a:t>03  分类应按不同维度分别整理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57A"/>
                </a:solidFill>
                <a:latin typeface="Noto Sans CJK SC"/>
              </a:defRPr>
            </a:pPr>
            <a:r>
              <a:t>几何结构、密封材料与驱动方式可以组合，不能相互替代。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57A"/>
                </a:solidFill>
                <a:latin typeface="Noto Sans CJK SC"/>
              </a:defRPr>
            </a:pPr>
            <a:r>
              <a:t>蝶阀基础知识与设计问题  /  初步学习与讨论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3657A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1965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26DA7"/>
                </a:solidFill>
                <a:latin typeface="Noto Sans CJK SC"/>
              </a:defRPr>
            </a:pPr>
            <a:r>
              <a:t>驱动方式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819656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04D"/>
                </a:solidFill>
                <a:latin typeface="Noto Sans CJK SC"/>
              </a:defRPr>
            </a:pPr>
            <a:r>
              <a:t>手动 / 电动 / 气动 / 液动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87168"/>
            <a:ext cx="10881360" cy="649224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69463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26DA7"/>
                </a:solidFill>
                <a:latin typeface="Noto Sans CJK SC"/>
              </a:defRPr>
            </a:pPr>
            <a:r>
              <a:t>连接方式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69463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04D"/>
                </a:solidFill>
                <a:latin typeface="Noto Sans CJK SC"/>
              </a:defRPr>
            </a:pPr>
            <a:r>
              <a:t>对夹 / 支耳 / 法兰 / 焊接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36976"/>
            <a:ext cx="1088136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19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26DA7"/>
                </a:solidFill>
                <a:latin typeface="Noto Sans CJK SC"/>
              </a:defRPr>
            </a:pPr>
            <a:r>
              <a:t>几何结构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319272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04D"/>
                </a:solidFill>
                <a:latin typeface="Noto Sans CJK SC"/>
              </a:defRPr>
            </a:pPr>
            <a:r>
              <a:t>中线 / 单偏心 / 双偏心 / 三偏心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86783"/>
            <a:ext cx="10881360" cy="649224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690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26DA7"/>
                </a:solidFill>
                <a:latin typeface="Noto Sans CJK SC"/>
              </a:defRPr>
            </a:pPr>
            <a:r>
              <a:t>密封材料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069079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04D"/>
                </a:solidFill>
                <a:latin typeface="Noto Sans CJK SC"/>
              </a:defRPr>
            </a:pPr>
            <a:r>
              <a:t>软密封 / 金属密封等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36592"/>
            <a:ext cx="1088136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188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26DA7"/>
                </a:solidFill>
                <a:latin typeface="Noto Sans CJK SC"/>
              </a:defRPr>
            </a:pPr>
            <a:r>
              <a:t>密封加载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81888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04D"/>
                </a:solidFill>
                <a:latin typeface="Noto Sans CJK SC"/>
              </a:defRPr>
            </a:pPr>
            <a:r>
              <a:t>机械压紧 / 外部充压 / 介质压力辅助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5304D"/>
                </a:solidFill>
                <a:latin typeface="Noto Sans CJK SC"/>
              </a:defRPr>
            </a:pPr>
            <a:r>
              <a:t>04  中线与偏心：关注密封副如何运动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57A"/>
                </a:solidFill>
                <a:latin typeface="Noto Sans CJK SC"/>
              </a:defRPr>
            </a:pPr>
            <a:r>
              <a:t>结构演进的核心：改变接触、脱离和压紧过程。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57A"/>
                </a:solidFill>
                <a:latin typeface="Noto Sans CJK SC"/>
              </a:defRPr>
            </a:pPr>
            <a:r>
              <a:t>蝶阀基础知识与设计问题  /  初步学习与讨论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3657A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49240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7" y="192024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1874520"/>
            <a:ext cx="4754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中线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48006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常见弹性阀座靠过盈建立密封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启闭时存在一定范围的接触摩擦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49240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19088" y="192024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874520"/>
            <a:ext cx="4754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单偏心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87752"/>
            <a:ext cx="48006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阀杆轴线偏离密封面所在平面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改变相对运动，减轻部分挤压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5349240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7" y="416052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7" y="4114800"/>
            <a:ext cx="4754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双偏心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28032"/>
            <a:ext cx="48006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再增加相对流道中心线的偏置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开启后较快脱离，减少摩擦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349240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19088" y="416052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4114800"/>
            <a:ext cx="4754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三偏心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28032"/>
            <a:ext cx="48006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再引入密封锥面轴线的角度偏置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优化脱离及关闭压紧过程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5304D"/>
                </a:solidFill>
                <a:latin typeface="Noto Sans CJK SC"/>
              </a:defRPr>
            </a:pPr>
            <a:r>
              <a:t>05  偏心几何示意：两个位置偏置 + 一个角度偏置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57A"/>
                </a:solidFill>
                <a:latin typeface="Noto Sans CJK SC"/>
              </a:defRPr>
            </a:pPr>
            <a:r>
              <a:t>概念示意，不按比例；并非具体产品的密封锥面设计图。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57A"/>
                </a:solidFill>
                <a:latin typeface="Noto Sans CJK SC"/>
              </a:defRPr>
            </a:pPr>
            <a:r>
              <a:t>蝶阀基础知识与设计问题  /  初步学习与讨论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3657A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6118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7" y="201168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1965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第一偏心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9191"/>
            <a:ext cx="306324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阀杆轴线与密封面所在平面错开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3794760"/>
            <a:ext cx="64008" cy="1325880"/>
          </a:xfrm>
          <a:prstGeom prst="rect">
            <a:avLst/>
          </a:prstGeom>
          <a:solidFill>
            <a:srgbClr val="22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39" y="3794760"/>
            <a:ext cx="109728" cy="132588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19" y="5257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3657A"/>
                </a:solidFill>
                <a:latin typeface="Noto Sans CJK SC"/>
              </a:defRPr>
            </a:pPr>
            <a:r>
              <a:t>密封面平面    阀杆轴线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783080"/>
            <a:ext cx="36118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81728" y="201168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8" y="1965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第二偏心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679191"/>
            <a:ext cx="306324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阀杆轴线偏离流道中心线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767328"/>
            <a:ext cx="54864" cy="1371600"/>
          </a:xfrm>
          <a:prstGeom prst="rect">
            <a:avLst/>
          </a:prstGeom>
          <a:solidFill>
            <a:srgbClr val="22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3767328"/>
            <a:ext cx="109728" cy="137160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5257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3657A"/>
                </a:solidFill>
                <a:latin typeface="Noto Sans CJK SC"/>
              </a:defRPr>
            </a:pPr>
            <a:r>
              <a:t>流道中心线    阀杆轴线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783080"/>
            <a:ext cx="36118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22208" y="201168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05088" y="1965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第三偏心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679191"/>
            <a:ext cx="306324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密封锥面轴线与流道轴线成角度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3767328"/>
            <a:ext cx="54864" cy="1371600"/>
          </a:xfrm>
          <a:prstGeom prst="rect">
            <a:avLst/>
          </a:prstGeom>
          <a:solidFill>
            <a:srgbClr val="22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1500000">
            <a:off x="10195559" y="3767328"/>
            <a:ext cx="73152" cy="137160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5257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3657A"/>
                </a:solidFill>
                <a:latin typeface="Noto Sans CJK SC"/>
              </a:defRPr>
            </a:pPr>
            <a:r>
              <a:t>流道轴线    密封锥面轴线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5304D"/>
                </a:solidFill>
                <a:latin typeface="Noto Sans CJK SC"/>
              </a:defRPr>
            </a:pPr>
            <a:r>
              <a:t>06  如何理解不同结构的适用性？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57A"/>
                </a:solidFill>
                <a:latin typeface="Noto Sans CJK SC"/>
              </a:defRPr>
            </a:pPr>
            <a:r>
              <a:t>选型依据是具体工况和结构参数，而不是“偏心越多越好”。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57A"/>
                </a:solidFill>
                <a:latin typeface="Noto Sans CJK SC"/>
              </a:defRPr>
            </a:pPr>
            <a:r>
              <a:t>蝶阀基础知识与设计问题  /  初步学习与讨论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3657A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204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7" y="196596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1920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中线弹性密封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2971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结构较简单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常见于水及一般介质系统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重点：材料相容性、过盈、温度限制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37360"/>
            <a:ext cx="35204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4568" y="196596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920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双偏心结构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33472"/>
            <a:ext cx="2971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有利于较快脱离阀座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可采用不同阀座材料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重点：偏心量、磨损、压差及流向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5204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47888" y="196596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920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三偏心金属密封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33472"/>
            <a:ext cx="2971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有利于减少启闭摩擦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常用于较高温等工况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重点：密封面精度、关闭力矩、接触状态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5304D"/>
                </a:solidFill>
                <a:latin typeface="Noto Sans CJK SC"/>
              </a:defRPr>
            </a:pPr>
            <a:r>
              <a:t>07  密封力从哪里来？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57A"/>
                </a:solidFill>
                <a:latin typeface="Noto Sans CJK SC"/>
              </a:defRPr>
            </a:pPr>
            <a:r>
              <a:t>建立足够的密封接触压力，同时控制摩擦、变形与磨损。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57A"/>
                </a:solidFill>
                <a:latin typeface="Noto Sans CJK SC"/>
              </a:defRPr>
            </a:pPr>
            <a:r>
              <a:t>蝶阀基础知识与设计问题  /  初步学习与讨论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3657A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204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7" y="196596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1920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机械压紧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2971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来源：过盈或关闭力矩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关注：预紧与操作力矩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压紧不足可能泄漏；过大可能增大应力与磨损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37360"/>
            <a:ext cx="35204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4568" y="196596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920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外部充压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33472"/>
            <a:ext cx="2971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来源：外部压力源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典型顺序：关闭→充压；卸压→开启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关注：动作联锁、失压状态与辅助系统可靠性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5204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47888" y="196596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920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介质压力辅助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33472"/>
            <a:ext cx="2971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来源：介质对密封元件的作用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通常仍需建立初始密封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关注：低压密封、允许流向及反向压差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5304D"/>
                </a:solidFill>
                <a:latin typeface="Noto Sans CJK SC"/>
              </a:defRPr>
            </a:pPr>
            <a:r>
              <a:t>08  操作力矩是各项作用的合成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57A"/>
                </a:solidFill>
                <a:latin typeface="Noto Sans CJK SC"/>
              </a:defRPr>
            </a:pPr>
            <a:r>
              <a:t>开度、压差、流向与接触状态共同决定需求力矩。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57A"/>
                </a:solidFill>
                <a:latin typeface="Noto Sans CJK SC"/>
              </a:defRPr>
            </a:pPr>
            <a:r>
              <a:t>蝶阀基础知识与设计问题  /  初步学习与讨论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3657A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226DA7"/>
                </a:solidFill>
                <a:latin typeface="Noto Sans CJK SC"/>
              </a:defRPr>
            </a:pPr>
            <a:r>
              <a:t>密封接触  +  轴承摩擦  +  填料摩擦  +  流体作用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53492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7" y="310896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3063240"/>
            <a:ext cx="4754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计算时需要明确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76472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各项定义、正负方向与适用条件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必要时计入重力、惯性及传动损失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避免同一作用被重复计算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880360"/>
            <a:ext cx="53492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9088" y="310896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3063240"/>
            <a:ext cx="4754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不能直接作出的假设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776472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不能认为最大力矩必在全关处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不能把静水力矩与动水力矩简单视为相互转化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垂直安装不等于所有流体力矩为零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5304D"/>
                </a:solidFill>
                <a:latin typeface="Noto Sans CJK SC"/>
              </a:defRPr>
            </a:pPr>
            <a:r>
              <a:t>09  至少检查三个操作阶段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57A"/>
                </a:solidFill>
                <a:latin typeface="Noto Sans CJK SC"/>
              </a:defRPr>
            </a:pPr>
            <a:r>
              <a:t>比较不同工况下的最大需求，再开展阀杆与执行机构选型。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57A"/>
                </a:solidFill>
                <a:latin typeface="Noto Sans CJK SC"/>
              </a:defRPr>
            </a:pPr>
            <a:r>
              <a:t>蝶阀基础知识与设计问题  /  初步学习与讨论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3657A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61188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7" y="205740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开启初期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克服密封接触及静摩擦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关注压差与密封预紧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61188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81728" y="205740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部分开度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724912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流体力矩可能显著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关注流向、流速和压差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361188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22208" y="205740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05088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关闭末端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24912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密封副重新接触并压紧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兼顾密封与过载风险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8B89"/>
                </a:solidFill>
                <a:latin typeface="Noto Sans CJK SC"/>
              </a:defRPr>
            </a:pPr>
            <a:r>
              <a:t>设计输入：口径、压力温度、介质、流向、开闭频次和启闭时间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5304D"/>
                </a:solidFill>
                <a:latin typeface="Noto Sans CJK SC"/>
              </a:defRPr>
            </a:pPr>
            <a:r>
              <a:t>10  阀杆与蝶板：需要同时满足多项要求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57A"/>
                </a:solidFill>
                <a:latin typeface="Noto Sans CJK SC"/>
              </a:defRPr>
            </a:pPr>
            <a:r>
              <a:t>结构设计应从具体工况出发，而不是只计算一个尺寸。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57A"/>
                </a:solidFill>
                <a:latin typeface="Noto Sans CJK SC"/>
              </a:defRPr>
            </a:pPr>
            <a:r>
              <a:t>蝶阀基础知识与设计问题  /  初步学习与讨论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3657A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492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7" y="196596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1920240"/>
            <a:ext cx="4754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阀杆设计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48006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按受力情况校核扭转或弯扭组合强度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检查刚度、连接部位与支承条件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按需要考虑疲劳、腐蚀与温度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关注变形对启闭和密封的影响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3492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19088" y="196596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920240"/>
            <a:ext cx="4754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蝶板设计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33472"/>
            <a:ext cx="48006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检查压差下的应力与变形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评估变形对密封接触的影响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比较厚度、轮廓对流阻和力矩的影响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校核蝶板与阀杆连接可靠性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5304D"/>
                </a:solidFill>
                <a:latin typeface="Noto Sans CJK SC"/>
              </a:defRPr>
            </a:pPr>
            <a:r>
              <a:t>11  后续学习与验证安排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57A"/>
                </a:solidFill>
                <a:latin typeface="Noto Sans CJK SC"/>
              </a:defRPr>
            </a:pPr>
            <a:r>
              <a:t>先限定研究对象，再补齐模型、计算和证据。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57A"/>
                </a:solidFill>
                <a:latin typeface="Noto Sans CJK SC"/>
              </a:defRPr>
            </a:pPr>
            <a:r>
              <a:t>蝶阀基础知识与设计问题  /  初步学习与讨论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3657A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66928" cy="566928"/>
          </a:xfrm>
          <a:prstGeom prst="ellipse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83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明确对象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830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53657A"/>
                </a:solidFill>
                <a:latin typeface="Noto Sans CJK SC"/>
              </a:defRPr>
            </a:pPr>
            <a:r>
              <a:t>选定结构、介质、口径、压差与温度范围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724912"/>
            <a:ext cx="566928" cy="566928"/>
          </a:xfrm>
          <a:prstGeom prst="ellipse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77063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72491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补齐依据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2491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53657A"/>
                </a:solidFill>
                <a:latin typeface="Noto Sans CJK SC"/>
              </a:defRPr>
            </a:pPr>
            <a:r>
              <a:t>核对结构图、公式、材料数据及标准来源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666744"/>
            <a:ext cx="566928" cy="566928"/>
          </a:xfrm>
          <a:prstGeom prst="ellipse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712463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666744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建立模型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666744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53657A"/>
                </a:solidFill>
                <a:latin typeface="Noto Sans CJK SC"/>
              </a:defRPr>
            </a:pPr>
            <a:r>
              <a:t>形成受力简图、密封机理与关键参数说明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608576"/>
            <a:ext cx="566928" cy="566928"/>
          </a:xfrm>
          <a:prstGeom prst="ellipse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465429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6085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开展验证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608576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53657A"/>
                </a:solidFill>
                <a:latin typeface="Noto Sans CJK SC"/>
              </a:defRPr>
            </a:pPr>
            <a:r>
              <a:t>按问题选择理论计算、结构/流场分析或试验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5304D"/>
                </a:solidFill>
                <a:latin typeface="Noto Sans CJK SC"/>
              </a:defRPr>
            </a:pPr>
            <a:r>
              <a:t>12  希望与导师进一步讨论的问题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57A"/>
                </a:solidFill>
                <a:latin typeface="Noto Sans CJK SC"/>
              </a:defRPr>
            </a:pPr>
            <a:r>
              <a:t>目前重点：确认研究方向与下一步工作的优先级。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57A"/>
                </a:solidFill>
                <a:latin typeface="Noto Sans CJK SC"/>
              </a:defRPr>
            </a:pPr>
            <a:r>
              <a:t>蝶阀基础知识与设计问题  /  初步学习与讨论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3657A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5304D"/>
                </a:solidFill>
                <a:latin typeface="Noto Sans CJK SC"/>
              </a:defRPr>
            </a:pPr>
            <a:r>
              <a:t>01   后续应重点研究哪种蝶阀、哪类应用工况？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15304D"/>
                </a:solidFill>
                <a:latin typeface="Noto Sans CJK SC"/>
              </a:defRPr>
            </a:pPr>
            <a:r>
              <a:t>02   偏心量如何同时影响密封接触与操作力矩？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15304D"/>
                </a:solidFill>
                <a:latin typeface="Noto Sans CJK SC"/>
              </a:defRPr>
            </a:pPr>
            <a:r>
              <a:t>03   最大需求力矩应覆盖哪些开度、流向和压差？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634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15304D"/>
                </a:solidFill>
                <a:latin typeface="Noto Sans CJK SC"/>
              </a:defRPr>
            </a:pPr>
            <a:r>
              <a:t>04   下一步优先研究蝶板变形、阀杆受力，还是密封副？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5304D"/>
                </a:solidFill>
                <a:latin typeface="Noto Sans CJK SC"/>
              </a:defRPr>
            </a:pPr>
            <a:r>
              <a:t>资料基础与待核实内容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57A"/>
                </a:solidFill>
                <a:latin typeface="Noto Sans CJK SC"/>
              </a:defRPr>
            </a:pPr>
            <a:r>
              <a:t>本稿用于知识讨论，具体参数与计算结论应回到原始资料。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57A"/>
                </a:solidFill>
                <a:latin typeface="Noto Sans CJK SC"/>
              </a:defRPr>
            </a:pPr>
            <a:r>
              <a:t>蝶阀基础知识与设计问题  /  初步学习与讨论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3657A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492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7" y="196596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1920240"/>
            <a:ext cx="4754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本稿资料基础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48006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用户提供：《蝶阀.docx》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本次对话中修订的知识提纲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几何示意为概念表达，非工程图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未引用未经核实的最大口径等数据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3492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19088" y="1965960"/>
            <a:ext cx="64008" cy="365760"/>
          </a:xfrm>
          <a:prstGeom prst="rect">
            <a:avLst/>
          </a:prstGeom>
          <a:solidFill>
            <a:srgbClr val="0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920240"/>
            <a:ext cx="4754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5304D"/>
                </a:solidFill>
                <a:latin typeface="Noto Sans CJK SC"/>
              </a:defRPr>
            </a:pPr>
            <a:r>
              <a:t>下一步补充来源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33472"/>
            <a:ext cx="48006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教材：结构、密封与力矩计算章节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标准：适用范围、压力温度及试验要求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技术资料：具体产品结构与性能</a:t>
            </a:r>
          </a:p>
          <a:p>
            <a:pPr>
              <a:spcAft>
                <a:spcPts val="1200"/>
              </a:spcAft>
              <a:defRPr sz="2000" b="0">
                <a:solidFill>
                  <a:srgbClr val="53657A"/>
                </a:solidFill>
                <a:latin typeface="Noto Sans CJK SC"/>
              </a:defRPr>
            </a:pPr>
            <a:r>
              <a:t>原稿公式：出处、符号、单位和边界条件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